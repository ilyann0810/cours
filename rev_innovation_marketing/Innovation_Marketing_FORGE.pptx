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AA6C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9AA6C7"/>
                </a:solidFill>
                <a:latin typeface="Arial"/>
              </a:rPr>
              <a:t>Marché mondial fitness apps (Md$)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mondial fitness apps (Md$)</c:v>
                </c:pt>
              </c:strCache>
            </c:strRef>
          </c:tx>
          <c:spPr>
            <a:solidFill>
              <a:srgbClr val="2DE2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2024</c:v>
                  </c:pt>
                  <c:pt idx="2">
                    <c:v>2026e</c:v>
                  </c:pt>
                  <c:pt idx="3">
                    <c:v>2028e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15</c:v>
                </c:pt>
                <c:pt idx="2">
                  <c:v>21</c:v>
                </c:pt>
                <c:pt idx="3">
                  <c:v>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A6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5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AA6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A33"/>
        </a:solidFill>
        <a:ln>
          <a:noFill/>
        </a:ln>
        <a:effectLst/>
      </c:spPr>
    </c:plotArea>
    <c:plotVisOnly val="1"/>
    <c:dispBlanksAs val="span"/>
  </c:chart>
  <c:spPr>
    <a:solidFill>
      <a:srgbClr val="111A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3-image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E2C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INNOVATION &amp; MARKETING — ING2 APP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social de la muscu qui </a:t>
            </a:r>
            <a:pPr indent="0" marL="0">
              <a:buNone/>
            </a:pPr>
            <a:r>
              <a:rPr lang="en-US" sz="2200" b="1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ton avatar</a:t>
            </a:r>
            <a:pPr indent="0" marL="0">
              <a:buNone/>
            </a:pPr>
            <a:r>
              <a:rPr lang="en-US" sz="22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 rythme de tes vraies perfs.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par IA · Avatar évolutif · Données vérifiées · Communauté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869680" y="1554480"/>
            <a:ext cx="2743200" cy="2743200"/>
          </a:xfrm>
          <a:prstGeom prst="ellipse">
            <a:avLst/>
          </a:prstGeom>
          <a:solidFill>
            <a:srgbClr val="111A33"/>
          </a:solidFill>
          <a:ln w="25400">
            <a:solidFill>
              <a:srgbClr val="2DE2C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331720"/>
            <a:ext cx="1188720" cy="1188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ING2 APP — EFREI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problème de motivation, pas de salles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ECF8"/>
                </a:solidFill>
              </a:rPr>
              <a:t>La muscu explose, mais l'abandon aussi.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6C7"/>
                </a:solidFill>
              </a:rPr>
              <a:t>Les débutants se sentent perdus, intimidés et n'ont pas de coach pour adapter leur programme. La motivation retombe en quelques semaines.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474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4D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77240" y="44348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nouveaux pratiquants abandonnent dans les 6 premiers mois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51960" y="324612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3474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coach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480560" y="44348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 = cher et non scalable pour personnaliser un programme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55280" y="324612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3474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C7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freins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183880" y="44348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suivi, d'objectifs clairs et de communauté de soutien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— Sciences de l'Entreprise · Innovation &amp; Marketing · APFG82 2025-26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MARCHÉ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marché massif, en croissance, atomisé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6692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645920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720840" y="187452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2DE2C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568" y="1984248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6640" y="18105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Marché en forte croissance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406640" y="212140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apps : ~15 Md$ en 2024, projeté ~28 Md$ en 2028 (≈ +15%/an).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92240" y="2944368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720840" y="3172968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6C7B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328269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06640" y="3108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atomisée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406640" y="3419856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d'acteurs de niche (Strava, Hevy, Strong, Fitbod) — aucun ne combine IA + avatar + données vérifiées.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92240" y="4242816"/>
            <a:ext cx="5120640" cy="1170432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720840" y="4471416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FF4D8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458114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4074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Segmentation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7406640" y="471830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Débutants (cœur de cible), pratiquants réguliers, et B2B salles de sport.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— Sciences de l'Entreprise · Innovation &amp; Marketing · APFG82 2025-26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CIBLES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qui s'adresse FORGE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FF4D8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0299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2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Cœur de cible — Débutants 16-25 ans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qui débutent, sensibles au social et au jeu vidéo. Fort taux d'abandon = forte valeur si on les retient.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92024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2DE2C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0299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92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Pratiquants réguliers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07992" y="256032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Veulent tracker, progresser et se mesurer aux autres. Marché plus concurrentiel mais très engagé.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474720" cy="3566160"/>
          </a:xfrm>
          <a:prstGeom prst="roundRect">
            <a:avLst>
              <a:gd name="adj" fmla="val 2105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192024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6C7B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202996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892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B2B — Salles de sport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11312" y="2560320"/>
            <a:ext cx="2971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Cherchent à fidéliser leurs membres. FORGE devient un outil de rétention pour les salles partenaires.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commun : besoin de motivation, de repères clairs et d'appartenance à une communauté.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— Sciences de l'Entreprise · Innovation &amp; Marketing · APFG82 2025-26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 : 4 piliers qui se renforcent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2DE2C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9385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013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Coaching par 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4688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adapte programme &amp; objectifs selon le niveau, l'ancienneté et la progression. Un coach perso scalable — impossible avant l'IA.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82880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FF4D8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9385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013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Avatar évolutif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28232" y="24688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personnage virtuel se transforme physiquement au rythme de tes vraies perfs. Gamification qui rend la progression visible.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2DE2C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99592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587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Données vérifiées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4672" y="45262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perfs (binôme, photo/vidéo, capteurs) : on règle le mensonge qui plombe les réseaux fitness. La confiance est notre socle.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6576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388620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6C7B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99592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8587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Communauté &amp; défis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28232" y="45262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social, défis entre amis, clans et classements. La motivation par le collectif, pour ne plus lâcher seul.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— Sciences de l'Entreprise · Innovation &amp; Marketing · APFG82 2025-26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Innovation, pas invention : l'IA crée la rupture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737360"/>
            <a:ext cx="6035040" cy="3657600"/>
          </a:xfrm>
          <a:prstGeom prst="rect">
            <a:avLst/>
          </a:prstGeom>
          <a:solidFill>
            <a:srgbClr val="111A33"/>
          </a:solidFill>
          <a:ln w="12700">
            <a:solidFill>
              <a:srgbClr val="2430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3566160"/>
            <a:ext cx="6035040" cy="0"/>
          </a:xfrm>
          <a:prstGeom prst="line">
            <a:avLst/>
          </a:prstGeom>
          <a:noFill/>
          <a:ln w="12700">
            <a:solidFill>
              <a:srgbClr val="9AA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0" y="1737360"/>
            <a:ext cx="0" cy="3657600"/>
          </a:xfrm>
          <a:prstGeom prst="line">
            <a:avLst/>
          </a:prstGeom>
          <a:noFill/>
          <a:ln w="12700">
            <a:solidFill>
              <a:srgbClr val="9AA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0160" y="54406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IA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 rot="16200000">
            <a:off x="45720" y="2743200"/>
            <a:ext cx="1188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+ social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99232" y="4206240"/>
            <a:ext cx="182880" cy="182880"/>
          </a:xfrm>
          <a:prstGeom prst="ellipse">
            <a:avLst/>
          </a:prstGeom>
          <a:solidFill>
            <a:srgbClr val="9AA6C7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55264" y="41513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Strong/Hevy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0634" y="2670048"/>
            <a:ext cx="182880" cy="182880"/>
          </a:xfrm>
          <a:prstGeom prst="ellipse">
            <a:avLst/>
          </a:prstGeom>
          <a:solidFill>
            <a:srgbClr val="9AA6C7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6666" y="261518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07992" y="4206240"/>
            <a:ext cx="182880" cy="182880"/>
          </a:xfrm>
          <a:prstGeom prst="ellipse">
            <a:avLst/>
          </a:prstGeom>
          <a:solidFill>
            <a:srgbClr val="9AA6C7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41513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Fitbod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2304288"/>
            <a:ext cx="182880" cy="182880"/>
          </a:xfrm>
          <a:prstGeom prst="ellipse">
            <a:avLst/>
          </a:prstGeom>
          <a:solidFill>
            <a:srgbClr val="9AA6C7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53512" y="22494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2589" y="2139696"/>
            <a:ext cx="292608" cy="292608"/>
          </a:xfrm>
          <a:prstGeom prst="ellipse">
            <a:avLst/>
          </a:prstGeom>
          <a:solidFill>
            <a:srgbClr val="2DE2C5"/>
          </a:solidFill>
          <a:ln w="25400">
            <a:solidFill>
              <a:srgbClr val="0B1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3485" y="21396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0" y="173736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01000" y="1920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c'est une innovation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01000" y="237744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existe déjà (preuve : un marché à 28 Md$).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combiner IA de personnalisation + avatar miroir + données vérifiées n'était pas possible avant l'IA générative/prédictive.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occupe un espace vide : ultra-personnalisé ET ludique ET fiable.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— Sciences de l'Entreprise · Innovation &amp; Marketing · APFG82 2025-26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plateforme, plusieurs revenus = résilience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FFC8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9385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013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Freemium + Premium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4688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à l'usage, abonnement pour stats avancées, programmes IA poussés et personnalisation.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82880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2DE2C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9385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8013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Partenariats salles (B2B)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28232" y="246888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salles paient pour intégrer FORGE et fidéliser leurs membres.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74904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6C7B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85876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721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Marketplace coachs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4672" y="43891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sur la mise en relation et la vente de programmes par des coachs.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5204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374904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FF4D8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385876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7216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Cosmétiques avatar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28232" y="43891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Achats in-app de skins/équipements pour le personnage (modèle jeu vidéo).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nature de plateforme permet d'activer plusieurs leviers : flexibilité et résilience du modèle.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— Sciences de l'Entreprise · Innovation &amp; Marketing · APFG82 2025-26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vision systémique : 3 dimensions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FFC85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02996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2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Économique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d'emplois (coachs, dev), valeur pour les salles partenaires, démocratisation d'un coaching jusqu'ici réservé à ceux qui peuvent payer.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69164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92024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FF4D8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20299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92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07992" y="256032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publique &amp; lutte contre la sédentarité ; inclusion des débutants intimidés. Vigilance assumée sur les risques : addiction, comparaison toxique, dysmorphie — modération &amp; objectifs sains intégrés.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474720" cy="3657600"/>
          </a:xfrm>
          <a:prstGeom prst="roundRect">
            <a:avLst>
              <a:gd name="adj" fmla="val 2105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1920240"/>
            <a:ext cx="566928" cy="566928"/>
          </a:xfrm>
          <a:prstGeom prst="ellipse">
            <a:avLst/>
          </a:prstGeom>
          <a:solidFill>
            <a:srgbClr val="111A33"/>
          </a:solidFill>
          <a:ln w="19050">
            <a:solidFill>
              <a:srgbClr val="2DE2C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608" y="202996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892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Environnemental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11312" y="2560320"/>
            <a:ext cx="29718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 = data centers &amp; usage IA. Mesures : hébergement bas-carbone, IA frugale. À l'inverse : moins de matériel/déplacements grâce au coaching à domicile.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— Sciences de l'Entreprise · Innovation &amp; Marketing · APFG82 2025-26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feuille de route en 4 temps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777240" cy="777240"/>
          </a:xfrm>
          <a:prstGeom prst="ellipse">
            <a:avLst/>
          </a:prstGeom>
          <a:solidFill>
            <a:srgbClr val="111A33"/>
          </a:solidFill>
          <a:ln w="25400">
            <a:solidFill>
              <a:srgbClr val="2DE2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&amp; niche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sur les débutants, app mobile + IA de base + avatar. Bouche-à-oreille campus.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90672" y="30175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01568" y="18288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30168" y="2057400"/>
            <a:ext cx="777240" cy="777240"/>
          </a:xfrm>
          <a:prstGeom prst="ellipse">
            <a:avLst/>
          </a:prstGeom>
          <a:solidFill>
            <a:srgbClr val="111A33"/>
          </a:solidFill>
          <a:ln w="25400">
            <a:solidFill>
              <a:srgbClr val="2DE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98848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30168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Communauté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30168" y="35204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Défis, clans, classements. Premiers partenariats salles pilotes.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0" y="30175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254496" y="18288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83096" y="2057400"/>
            <a:ext cx="777240" cy="777240"/>
          </a:xfrm>
          <a:prstGeom prst="ellipse">
            <a:avLst/>
          </a:prstGeom>
          <a:solidFill>
            <a:srgbClr val="111A33"/>
          </a:solidFill>
          <a:ln w="25400">
            <a:solidFill>
              <a:srgbClr val="2DE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3096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351776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83096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Monétisation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83096" y="35204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marketplace coachs, cosmétiques. Validation des données par capteurs.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96528" y="301752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9107424" y="182880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16213E"/>
          </a:solidFill>
          <a:ln w="12700">
            <a:solidFill>
              <a:srgbClr val="2430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36024" y="2057400"/>
            <a:ext cx="777240" cy="777240"/>
          </a:xfrm>
          <a:prstGeom prst="ellipse">
            <a:avLst/>
          </a:prstGeom>
          <a:solidFill>
            <a:srgbClr val="111A33"/>
          </a:solidFill>
          <a:ln w="25400">
            <a:solidFill>
              <a:srgbClr val="2DE2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36024" y="2057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0204704" y="2240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4+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36024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&amp; data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36024" y="35204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Wearables, internationalisation, IA prédictive de blessures et de progression.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EFREI — Sciences de l'Entreprise · Innovation &amp; Marketing · APFG82 2025-26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E2C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FORGE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transforme un marché saturé d'apps en une expérience 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DE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personnalisée, ludique et fiable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 ne suit plus un programme : on forge un soi meilleur.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7315200" cy="1005840"/>
          </a:xfrm>
          <a:prstGeom prst="roundRect">
            <a:avLst>
              <a:gd name="adj" fmla="val 9091"/>
            </a:avLst>
          </a:prstGeom>
          <a:solidFill>
            <a:srgbClr val="16213E"/>
          </a:solidFill>
          <a:ln w="19050">
            <a:solidFill>
              <a:srgbClr val="2DE2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2DE2C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 FORGE — Chaque rep te façonne. 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144000" y="2194560"/>
            <a:ext cx="2377440" cy="2377440"/>
          </a:xfrm>
          <a:prstGeom prst="ellipse">
            <a:avLst/>
          </a:prstGeom>
          <a:solidFill>
            <a:srgbClr val="111A33"/>
          </a:solidFill>
          <a:ln w="25400">
            <a:solidFill>
              <a:srgbClr val="FFC85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880360"/>
            <a:ext cx="1005840" cy="1005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Questions &amp; échanges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— Réseau social muscu gamifié par IA</dc:title>
  <dc:subject>PptxGenJS Presentation</dc:subject>
  <dc:creator>Équipe ING2 — EFREI</dc:creator>
  <cp:lastModifiedBy>Équipe ING2 — EFREI</cp:lastModifiedBy>
  <cp:revision>1</cp:revision>
  <dcterms:created xsi:type="dcterms:W3CDTF">2026-06-11T07:40:45Z</dcterms:created>
  <dcterms:modified xsi:type="dcterms:W3CDTF">2026-06-11T07:40:45Z</dcterms:modified>
</cp:coreProperties>
</file>